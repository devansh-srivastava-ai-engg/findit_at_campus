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E8DE"/>
                </a:solidFill>
              </a:rPr>
              <a:t>JSS MAHAVIDYAPEETHA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JSS ACADEMY OF TECHNICAL EDUCATION, NOIDA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097280"/>
            <a:ext cx="7616952" cy="2743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FindIt@Campus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CE8DE"/>
                </a:solidFill>
              </a:rPr>
              <a:t>Campus Lost &amp; Found Directory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200400"/>
            <a:ext cx="7616952" cy="2743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BF0EB"/>
                </a:solidFill>
              </a:rPr>
              <a:t>Mini Project / Internship Assessment  •  Subject Code: BCC-351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BF0EB"/>
                </a:solidFill>
              </a:rPr>
              <a:t>Department of Computer Science and Engineering (AI &amp; ML)  |  B.Tech. Semester III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E8DE"/>
                </a:solidFill>
              </a:rPr>
              <a:t>Submitted by: [Student Name]  (Roll No: [Roll No.])  •  Section: [Section]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BF0EB"/>
                </a:solidFill>
              </a:rPr>
              <a:t>Academic Year: 2025-26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2636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E8DE"/>
                </a:solidFill>
              </a:rPr>
              <a:t>Full-Stack Web App  •  Node.js v22 Express  •  SQLite Database  •  Identity Verification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THE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8DE"/>
                </a:solidFill>
              </a:rPr>
              <a:t>Challenges with conventional campus lost and found practices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148840" cy="438912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2F2B"/>
                </a:solidFill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4D3A"/>
                </a:solidFill>
              </a:rPr>
              <a:t>Scattered &amp; Ephemeral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1600200" cy="27432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2F2B"/>
                </a:solidFill>
              </a:rPr>
              <a:t>Reports are posted across WhatsApp groups and paper notices -- quickly buried and impossible to search.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463040"/>
            <a:ext cx="2148840" cy="438912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60020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2F2B"/>
                </a:solidFill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402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4D3A"/>
                </a:solidFill>
              </a:rPr>
              <a:t>Zero Searchability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79" y="2788920"/>
            <a:ext cx="1600200" cy="27432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92608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2F2B"/>
                </a:solidFill>
              </a:rPr>
              <a:t>A student who finds an item has no central index to query whether the owner has reported it missing.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463040"/>
            <a:ext cx="2148840" cy="438912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60020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2F2B"/>
                </a:solidFill>
              </a:rP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2402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4D3A"/>
                </a:solidFill>
              </a:rPr>
              <a:t>No Identity Verification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2788920"/>
            <a:ext cx="1600200" cy="27432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92608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2F2B"/>
                </a:solidFill>
              </a:rPr>
              <a:t>Anyone can pick up a found item without presenting credentials or proving genuine ownership.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1463040"/>
            <a:ext cx="2148840" cy="438912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160020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2F2B"/>
                </a:solidFill>
              </a:rPr>
              <a:t>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2402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4D3A"/>
                </a:solidFill>
              </a:rPr>
              <a:t>Lack of Visual Proof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2788920"/>
            <a:ext cx="1600200" cy="27432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292608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2F2B"/>
                </a:solidFill>
              </a:rPr>
              <a:t>Text descriptions alone fail to distinguish lookalike items (chargers, bottles, ID cards, bags).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463040"/>
            <a:ext cx="2148840" cy="438912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160020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92F2B"/>
                </a:solidFill>
              </a:rPr>
              <a:t>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2402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4D3A"/>
                </a:solidFill>
              </a:rPr>
              <a:t>No Audit Ledger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788920"/>
            <a:ext cx="1600200" cy="27432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92608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92F2B"/>
                </a:solidFill>
              </a:rPr>
              <a:t>No timestamped, permanent digital record of who claimed an item, when, and with what proof.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989320"/>
            <a:ext cx="11457432" cy="54864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05332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Result: Genuine owners rarely recover lost belongings; found items go unclaimed or are wrongfully taken.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THE SOLUTION: FindIt@Campus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8DE"/>
                </a:solidFill>
              </a:rPr>
              <a:t>Centralised, photo-enabled, and identity-verified lost &amp; found directory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4937760" cy="516636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74D3A"/>
                </a:solidFill>
              </a:rPr>
              <a:t>System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572000" cy="27432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Single web-based directory for the whole campus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Filter instantly by Type (All / Lost / Found)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Search across categories: Electronics, Bags, IDs, etc.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Direct Contact field: Phone, room no., or drop-off desk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Mandatory Claimant Verification before return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Audit Ledger with claimant ID and proof note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Optional Claimant Photo upload for forensic proof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Automated Cross-Match engine for lost/found pairs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Zero framework overhead -- instant loading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325880"/>
            <a:ext cx="630936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1325880"/>
            <a:ext cx="6309360" cy="292608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96128" y="1417320"/>
            <a:ext cx="91440" cy="91440"/>
          </a:xfrm>
          <a:prstGeom prst="ellipse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42432" y="1417320"/>
            <a:ext cx="91440" cy="91440"/>
          </a:xfrm>
          <a:prstGeom prst="ellipse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417320"/>
            <a:ext cx="91440" cy="91440"/>
          </a:xfrm>
          <a:prstGeom prst="ellipse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62456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E8DE"/>
                </a:solidFill>
              </a:rPr>
              <a:t>http://localhost:3000  •  FindIt@Campus</a:t>
            </a:r>
          </a:p>
        </p:txBody>
      </p:sp>
      <p:pic>
        <p:nvPicPr>
          <p:cNvPr id="15" name="Picture 1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664208"/>
            <a:ext cx="6217920" cy="45537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77840" y="6199632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7068"/>
                </a:solidFill>
              </a:rPr>
              <a:t>Figure 1: FindIt@Campus Live Production Interface (Cards, Filters &amp; Status Bar)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8DE"/>
                </a:solidFill>
              </a:rPr>
              <a:t>Lightweight, maintainable, and built with modern web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566160" cy="228600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2704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2F2B"/>
                </a:solidFill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Frontend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2F2B"/>
                </a:solidFill>
              </a:rPr>
              <a:t>Vanilla HTML5, CSS3, JS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2834639" cy="18288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7063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Semantic HTML, CSS custom properties, responsive grid, zero build tools or bundler overhead.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417320"/>
            <a:ext cx="3566160" cy="228600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52704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2F2B"/>
                </a:solidFill>
              </a:rP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96596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Backend 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2860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2F2B"/>
                </a:solidFill>
              </a:rPr>
              <a:t>Node.js v22 + Express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697480"/>
            <a:ext cx="2834639" cy="18288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77063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Non-blocking event loop, modular REST routing, multipart file upload via multer, clean JSON APIs.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3566160" cy="228600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52704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2F2B"/>
                </a:solidFill>
              </a:rPr>
              <a:t>🗃️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96596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Database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2860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2F2B"/>
                </a:solidFill>
              </a:rPr>
              <a:t>SQLite (node:sqlite)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2697480"/>
            <a:ext cx="2834639" cy="18288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77063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Serverless, zero-config relational database built into Node 22.5+. ACID compliant single-file persistence.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8620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9592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2F2B"/>
                </a:solidFill>
              </a:rPr>
              <a:t>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3484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Alt. 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548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2F2B"/>
                </a:solidFill>
              </a:rPr>
              <a:t>Python 3 + Flask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166360"/>
            <a:ext cx="2834639" cy="18288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23951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Complete drop-in Flask alternative (app.py) for environments preferring Python deployment.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88620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399592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2F2B"/>
                </a:solidFill>
              </a:rPr>
              <a:t>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43484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Automated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7548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2F2B"/>
                </a:solidFill>
              </a:rPr>
              <a:t>Node Test Runner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5166360"/>
            <a:ext cx="2834639" cy="18288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523951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Automated API test suite (test_api.js) validating all GET, POST, PATCH, and error cases.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88620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3995928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92F2B"/>
                </a:solidFill>
              </a:rPr>
              <a:t>🖼️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43484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Client Compression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7548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2F2B"/>
                </a:solidFill>
              </a:rPr>
              <a:t>HTML5 Canvas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5166360"/>
            <a:ext cx="2834639" cy="18288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80" y="5239512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Client-side JPEG compression (max 800px, 0.75 quality) before upload to save campus network bandwidth.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FEATURE 1: DIRECTORY, SEARCH &amp;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8DE"/>
                </a:solidFill>
              </a:rPr>
              <a:t>Instant item discovery with real-time reactive filtering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4937760" cy="516636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74D3A"/>
                </a:solidFill>
              </a:rPr>
              <a:t>Directory 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572000" cy="27432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Segmented Control: Toggle between All / Lost / Found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Category Dropdown: Electronics, IDs, Books, Clothing, etc.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Resolution Status: Open, Claimed, or Returned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Live Search Bar: Debounced at 300ms for smooth typing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Press '/' Shortcut: Automatically focuses search input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Finder Contact Info: Each card displays drop-off desk / phone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Image Lightbox: Click any photo to view full-resolution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Status Pill: Real-time visual cue (Open vs. Returned)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325880"/>
            <a:ext cx="630936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1325880"/>
            <a:ext cx="6309360" cy="292608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96128" y="1417320"/>
            <a:ext cx="91440" cy="91440"/>
          </a:xfrm>
          <a:prstGeom prst="ellipse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42432" y="1417320"/>
            <a:ext cx="91440" cy="91440"/>
          </a:xfrm>
          <a:prstGeom prst="ellipse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417320"/>
            <a:ext cx="91440" cy="91440"/>
          </a:xfrm>
          <a:prstGeom prst="ellipse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62456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E8DE"/>
                </a:solidFill>
              </a:rPr>
              <a:t>http://localhost:3000  •  FindIt@Campus</a:t>
            </a:r>
          </a:p>
        </p:txBody>
      </p:sp>
      <p:pic>
        <p:nvPicPr>
          <p:cNvPr id="15" name="Picture 14" descr="lost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664208"/>
            <a:ext cx="6217920" cy="45537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77840" y="6199632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7068"/>
                </a:solidFill>
              </a:rPr>
              <a:t>Figure 2: Active Lost Items directory showing search filters &amp; contact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FEATURE 2: POST A NEW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8DE"/>
                </a:solidFill>
              </a:rPr>
              <a:t>Seamless submission with photo upload and drop-off contacts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303520" cy="516636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74D3A"/>
                </a:solidFill>
              </a:rPr>
              <a:t>Submission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937760" cy="27432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Modal Form: Clean slide-up dialog with keyboard support (Esc)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Type Selection: Choose Lost Report or Found Item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Metadata Capture: Title, category, location, and date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Finder Contact Field: Essential for peer-to-peer retrieval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  (e.g., 'Hostel 3, Room 104' or 'Security Desk Block B')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Canvas Image Compression: Automatically resizes photos to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  max 800px at 0.75 JPEG quality before transmission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Server Storage: Multipart upload stored in /uploads directory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Instant Refresh: Card immediately appended to live grid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325880"/>
            <a:ext cx="59436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325880"/>
            <a:ext cx="5943600" cy="292608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61888" y="1417320"/>
            <a:ext cx="91440" cy="91440"/>
          </a:xfrm>
          <a:prstGeom prst="ellipse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08192" y="1417320"/>
            <a:ext cx="91440" cy="91440"/>
          </a:xfrm>
          <a:prstGeom prst="ellipse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54496" y="1417320"/>
            <a:ext cx="91440" cy="91440"/>
          </a:xfrm>
          <a:prstGeom prst="ellipse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6245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E8DE"/>
                </a:solidFill>
              </a:rPr>
              <a:t>http://localhost:3000  •  FindIt@Campus</a:t>
            </a:r>
          </a:p>
        </p:txBody>
      </p:sp>
      <p:pic>
        <p:nvPicPr>
          <p:cNvPr id="15" name="Picture 14" descr="report_moda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64208"/>
            <a:ext cx="5852160" cy="45537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43600" y="619963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7068"/>
                </a:solidFill>
              </a:rPr>
              <a:t>Figure 3: 'Post a Lost or Found Item' modal showing photo dropzone &amp; contact field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FEATURE 3: CLAIMANT IDENTITY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8DE"/>
                </a:solidFill>
              </a:rPr>
              <a:t>Preventing wrongful claims through verified credentials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303520" cy="516636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74D3A"/>
                </a:solidFill>
              </a:rPr>
              <a:t>Required Verification Fields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937760" cy="27432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92F2B"/>
                </a:solidFill>
              </a:rPr>
              <a:t>1. Full Name: Legal name of the claiming student / staff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92F2B"/>
                </a:solidFill>
              </a:rPr>
              <a:t>2. College ID / Roll No: Permanent institutional identity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92F2B"/>
                </a:solidFill>
              </a:rPr>
              <a:t>3. Contact Info: Verified phone number / official email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92F2B"/>
                </a:solidFill>
              </a:rPr>
              <a:t>4. Ownership Proof: Mandatory description proving ownership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92F2B"/>
                </a:solidFill>
              </a:rPr>
              <a:t>   (e.g., wallpaper description, serial no., scratch mark)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92F2B"/>
                </a:solidFill>
              </a:rPr>
              <a:t>5. Claimant Photo (Optional): Selfie holding college ID or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92F2B"/>
                </a:solidFill>
              </a:rPr>
              <a:t>   photograph of ID card for the digital audit log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92F2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92F2B"/>
                </a:solidFill>
              </a:rPr>
              <a:t>🛡️ Security Outcome: Solves campus misappropriation.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92F2B"/>
                </a:solidFill>
              </a:rPr>
              <a:t>Only genuine owners with demonstrable proof can claim.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325880"/>
            <a:ext cx="594360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325880"/>
            <a:ext cx="5943600" cy="292608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61888" y="1417320"/>
            <a:ext cx="91440" cy="91440"/>
          </a:xfrm>
          <a:prstGeom prst="ellipse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08192" y="1417320"/>
            <a:ext cx="91440" cy="91440"/>
          </a:xfrm>
          <a:prstGeom prst="ellipse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54496" y="1417320"/>
            <a:ext cx="91440" cy="91440"/>
          </a:xfrm>
          <a:prstGeom prst="ellipse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6245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E8DE"/>
                </a:solidFill>
              </a:rPr>
              <a:t>http://localhost:3000  •  FindIt@Campus</a:t>
            </a:r>
          </a:p>
        </p:txBody>
      </p:sp>
      <p:pic>
        <p:nvPicPr>
          <p:cNvPr id="15" name="Picture 14" descr="claim_moda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64208"/>
            <a:ext cx="5852160" cy="45537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43600" y="619963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7068"/>
                </a:solidFill>
              </a:rPr>
              <a:t>Figure 4: 'Verify Identity &amp; Claim Item' modal with College ID &amp; Photo Upload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FEATURE 4: DIGITAL AUDIT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8DE"/>
                </a:solidFill>
              </a:rPr>
              <a:t>Transparent record of recovered items with claimant photo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4937760" cy="516636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74D3A"/>
                </a:solidFill>
              </a:rPr>
              <a:t>Audit Trail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572000" cy="27432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Status Transition: Moves from 'open' to 'returned'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Permanent Record: claimant identity fields written to DB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Audit Badge: Card displays 'Returned' status indicator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Claimant Metadata: Shows Name, College ID, Proof Note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Claimant Photo Thumbnail: Clickable thumbnail opens in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  full-screen lightbox for verification inspection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Timestamped Ledger: ISO 8601 claim timestamp recorded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92F2B"/>
                </a:solidFill>
              </a:rPr>
              <a:t>• Accountability: Campus security can audit all recoveries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325880"/>
            <a:ext cx="630936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1325880"/>
            <a:ext cx="6309360" cy="292608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96128" y="1417320"/>
            <a:ext cx="91440" cy="91440"/>
          </a:xfrm>
          <a:prstGeom prst="ellipse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42432" y="1417320"/>
            <a:ext cx="91440" cy="91440"/>
          </a:xfrm>
          <a:prstGeom prst="ellipse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88736" y="1417320"/>
            <a:ext cx="91440" cy="91440"/>
          </a:xfrm>
          <a:prstGeom prst="ellipse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62456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E8DE"/>
                </a:solidFill>
              </a:rPr>
              <a:t>http://localhost:3000  •  FindIt@Campus</a:t>
            </a:r>
          </a:p>
        </p:txBody>
      </p:sp>
      <p:pic>
        <p:nvPicPr>
          <p:cNvPr id="15" name="Picture 14" descr="returned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664208"/>
            <a:ext cx="6217920" cy="45537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77840" y="6199632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67068"/>
                </a:solidFill>
              </a:rPr>
              <a:t>Figure 5: Returned Items view showing claimant verification details &amp; audit ledger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8DE"/>
                </a:solidFill>
              </a:rPr>
              <a:t>Robust three-tier client-server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11880" cy="5029200"/>
          </a:xfrm>
          <a:prstGeom prst="rect">
            <a:avLst/>
          </a:prstGeom>
          <a:solidFill>
            <a:srgbClr val="DCE8DE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PRESENTATION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92F2B"/>
                </a:solidFill>
              </a:rPr>
              <a:t>Browser (Client)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2880360" cy="27432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292F2B"/>
                </a:solidFill>
              </a:rPr>
              <a:t>index.html
style.css
script.js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2880360" cy="27432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92F2B"/>
                </a:solidFill>
              </a:rPr>
              <a:t>• Vanilla DOM rendering
• Fetch API with AbortController
• HTML5 Canvas compression
• Toast notification queue
• Skeleton loading states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371600"/>
            <a:ext cx="3611880" cy="5029200"/>
          </a:xfrm>
          <a:prstGeom prst="rect">
            <a:avLst/>
          </a:prstGeom>
          <a:solidFill>
            <a:srgbClr val="174D3A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48132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APPLICATION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74519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Node.js Server (:3000)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2423160"/>
            <a:ext cx="28803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51460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server.js
(Express 4.x)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3200400"/>
            <a:ext cx="28803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33756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RESTful API routing
• Multipart upload handling
• Cross-match scoring engine
• Defensive input validation
• JSON error responses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611880" cy="5029200"/>
          </a:xfrm>
          <a:prstGeom prst="rect">
            <a:avLst/>
          </a:prstGeom>
          <a:solidFill>
            <a:srgbClr val="0D3327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48132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74519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Embedded Storage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2423160"/>
            <a:ext cx="28803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514600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campus_reports.db
/uploads/ directory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3200400"/>
            <a:ext cx="288036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33756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• SQLite relational database
• Zero-config node:sqlite
• 18-column schema with audit
• Static image file serving
• Atomic write transactions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4D3A"/>
                </a:solidFill>
              </a:rPr>
              <a:t>JSON / HTTP REST 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74D3A"/>
                </a:solidFill>
              </a:rPr>
              <a:t>node:sqlite 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8DE"/>
                </a:solidFill>
              </a:rPr>
              <a:t>Single-table relational architecture with comprehensive claimant audit fields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577840" cy="384048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Item Core Metadata (Columns 1-10)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5577840" cy="420624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INTEGER 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828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Auto-increment primary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31136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768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2768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2768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'lost' or 'found'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79191"/>
            <a:ext cx="5577840" cy="420624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2491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724911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72491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Electronics, Clothing, ID Cards, etc.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27248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72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172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1729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Item title / summary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75304"/>
            <a:ext cx="5577840" cy="420624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210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6210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6210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Specific discovery/loss location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23360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069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069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Date of event (YYYY-MM-DD)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71416"/>
            <a:ext cx="5577840" cy="420624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5171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description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51713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51713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Detailed distinguishing notes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919472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965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contact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49651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9651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Finder contact / drop-off location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367528"/>
            <a:ext cx="5577840" cy="420624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4132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image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4132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54132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File path to compressed item photo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815584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8613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status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58613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58613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'open', 'claimed', 'returned'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1371600"/>
            <a:ext cx="5577840" cy="384048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59" y="1417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Claimant Identity &amp; Audit Ledger (Columns 11-18)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1783080"/>
            <a:ext cx="5577840" cy="420624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claimedBy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1828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1828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Claimant full legal name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2231136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59" y="22768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claimantId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22768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0" y="22768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Verified College Roll No. / 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2679191"/>
            <a:ext cx="5577840" cy="420624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59" y="272491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claimantContact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2724911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272491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Claimant phone number / email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3127248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59" y="3172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claimProof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0" y="3172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69680" y="31729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Written proof of ownership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17920" y="3575304"/>
            <a:ext cx="5577840" cy="420624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59" y="36210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claimantPhoto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36210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69680" y="36210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File path to claimant ID / selfie photo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4023360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9359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claimedAt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80960" y="4069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69680" y="4069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ISO 8601 timestamp of resolution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4471416"/>
            <a:ext cx="5577840" cy="420624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59" y="45171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demo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80960" y="451713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INTEGER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69680" y="451713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1 = seeded demo record; 0 = user post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17920" y="4919472"/>
            <a:ext cx="55778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9359" y="4965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4D3A"/>
                </a:solidFill>
              </a:rPr>
              <a:t>createdAt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80960" y="49651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92F2B"/>
                </a:solidFill>
              </a:rPr>
              <a:t>TEXT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49651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2F2B"/>
                </a:solidFill>
              </a:rPr>
              <a:t>ISO 8601 creation timestamp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REST API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8DE"/>
                </a:solidFill>
              </a:rPr>
              <a:t>Standardised HTTP endpoints with structured JSON responses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57432" cy="658368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0" cy="658368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1790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63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4D3A"/>
                </a:solidFill>
              </a:rPr>
              <a:t>/api/reports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4630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92F2B"/>
                </a:solidFill>
              </a:rPr>
              <a:t>List reports with query filters (?type=, ?category=, ?status=, ?q=)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75688"/>
            <a:ext cx="114574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075688"/>
            <a:ext cx="1097280" cy="658368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1671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4D3A"/>
                </a:solidFill>
              </a:rPr>
              <a:t>/api/reports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6712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92F2B"/>
                </a:solidFill>
              </a:rPr>
              <a:t>Submit new lost/found report (multipart/form-data with optional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79776"/>
            <a:ext cx="11457432" cy="658368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779776"/>
            <a:ext cx="1097280" cy="658368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87121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4D3A"/>
                </a:solidFill>
              </a:rPr>
              <a:t>/api/reports/:id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87121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92F2B"/>
                </a:solidFill>
              </a:rPr>
              <a:t>Retrieve complete details of a single report by 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83864"/>
            <a:ext cx="114574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483864"/>
            <a:ext cx="1097280" cy="658368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6301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5753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4D3A"/>
                </a:solidFill>
              </a:rPr>
              <a:t>/api/reports/:id/claim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575304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92F2B"/>
                </a:solidFill>
              </a:rPr>
              <a:t>Submit verified claim: updates status to 'returned' with audit data &amp; photo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87952"/>
            <a:ext cx="11457432" cy="658368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187952"/>
            <a:ext cx="1097280" cy="658368"/>
          </a:xfrm>
          <a:prstGeom prst="rect">
            <a:avLst/>
          </a:prstGeom>
          <a:solidFill>
            <a:srgbClr val="B3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3342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27939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4D3A"/>
                </a:solidFill>
              </a:rPr>
              <a:t>/api/reports/:id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279392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92F2B"/>
                </a:solidFill>
              </a:rPr>
              <a:t>Delete an existing report by 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92040"/>
            <a:ext cx="1145743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892040"/>
            <a:ext cx="1097280" cy="658368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3834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498347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4D3A"/>
                </a:solidFill>
              </a:rPr>
              <a:t>/api/cross-match/:id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983479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92F2B"/>
                </a:solidFill>
              </a:rPr>
              <a:t>Compute similarity scores between a report and opposite-type open items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596128"/>
            <a:ext cx="11457432" cy="658368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5596128"/>
            <a:ext cx="1097280" cy="658368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7424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56875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4D3A"/>
                </a:solidFill>
              </a:rPr>
              <a:t>/uploads/:filename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68756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92F2B"/>
                </a:solidFill>
              </a:rPr>
              <a:t>Serve uploaded item photos and claimant verification images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UX &amp; DEFENSIVE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8DE"/>
                </a:solidFill>
              </a:rPr>
              <a:t>Crafted micro-interactions and resilient error 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577840" cy="1463040"/>
          </a:xfrm>
          <a:prstGeom prst="rect">
            <a:avLst/>
          </a:prstGeom>
          <a:solidFill>
            <a:srgbClr val="DCE8DE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4D3A"/>
                </a:solidFill>
              </a:rPr>
              <a:t>🦴 Skeleton Loaders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2F2B"/>
                </a:solidFill>
              </a:rPr>
              <a:t>Card skeletons animate during network requests -- eliminates jarring blank screens and layout shifts.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557784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4D3A"/>
                </a:solidFill>
              </a:rPr>
              <a:t>🔔 Toast 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2F2B"/>
                </a:solidFill>
              </a:rPr>
              <a:t>Queued non-blocking toast notifications auto-dismiss after 4s. No disruptive browser alert() popups.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557784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546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4D3A"/>
                </a:solidFill>
              </a:rPr>
              <a:t>⌨️ Keyboard Shortcuts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2F2B"/>
                </a:solidFill>
              </a:rPr>
              <a:t>'/' key immediately focuses search; 'Escape' dismisses any modal. Full Tab-index navigation support.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017520"/>
            <a:ext cx="5577840" cy="1463040"/>
          </a:xfrm>
          <a:prstGeom prst="rect">
            <a:avLst/>
          </a:prstGeom>
          <a:solidFill>
            <a:srgbClr val="DCE8DE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1546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4D3A"/>
                </a:solidFill>
              </a:rPr>
              <a:t>🌐 Live Health Dot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5661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2F2B"/>
                </a:solidFill>
              </a:rPr>
              <a:t>Connection indicator in navbar polls server every 30s. Green = Live, Red = Connection Offline.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17720"/>
            <a:ext cx="5577840" cy="1463040"/>
          </a:xfrm>
          <a:prstGeom prst="rect">
            <a:avLst/>
          </a:prstGeom>
          <a:solidFill>
            <a:srgbClr val="DCE8DE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4D3A"/>
                </a:solidFill>
              </a:rPr>
              <a:t>🖼️ Responsive Lightbox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6635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2F2B"/>
                </a:solidFill>
              </a:rPr>
              <a:t>Clicking any item photo or claimant photo opens a distraction-free full-screen image viewer.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617720"/>
            <a:ext cx="557784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754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4D3A"/>
                </a:solidFill>
              </a:rPr>
              <a:t>🛡️ Defensive Networking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16635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92F2B"/>
                </a:solidFill>
              </a:rPr>
              <a:t>Fetch calls implement AbortController timeouts with fallback state for network interruptions.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 FLOW: CLAIM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8DE"/>
                </a:solidFill>
              </a:rPr>
              <a:t>End-to-end data lifecycle when an item is claimed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1783080" cy="2011680"/>
          </a:xfrm>
          <a:prstGeom prst="rect">
            <a:avLst/>
          </a:prstGeom>
          <a:solidFill>
            <a:srgbClr val="DCE8DE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373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4D3A"/>
                </a:solidFill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9456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74D3A"/>
                </a:solidFill>
              </a:rPr>
              <a:t>Claimant clicks
'I Found This'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423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74D3A"/>
                </a:solidFill>
              </a:rPr>
              <a:t>➔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4288" y="1645920"/>
            <a:ext cx="1783080" cy="2011680"/>
          </a:xfrm>
          <a:prstGeom prst="rect">
            <a:avLst/>
          </a:prstGeom>
          <a:solidFill>
            <a:srgbClr val="DCE8DE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0008" y="17373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4D3A"/>
                </a:solidFill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8" y="219456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74D3A"/>
                </a:solidFill>
              </a:rPr>
              <a:t>Inputs Roll No,
Proof &amp; 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23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74D3A"/>
                </a:solidFill>
              </a:rPr>
              <a:t>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2816" y="1645920"/>
            <a:ext cx="1783080" cy="2011680"/>
          </a:xfrm>
          <a:prstGeom prst="rect">
            <a:avLst/>
          </a:prstGeom>
          <a:solidFill>
            <a:srgbClr val="174D3A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8536" y="17373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8536" y="219456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Client validates
all required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2423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74D3A"/>
                </a:solidFill>
              </a:rP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645920"/>
            <a:ext cx="1783080" cy="2011680"/>
          </a:xfrm>
          <a:prstGeom prst="rect">
            <a:avLst/>
          </a:prstGeom>
          <a:solidFill>
            <a:srgbClr val="174D3A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7373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19456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PATCH /api/reports
/:id/claim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2423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74D3A"/>
                </a:solidFill>
              </a:rPr>
              <a:t>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9872" y="1645920"/>
            <a:ext cx="1783080" cy="2011680"/>
          </a:xfrm>
          <a:prstGeom prst="rect">
            <a:avLst/>
          </a:prstGeom>
          <a:solidFill>
            <a:srgbClr val="0D3327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17373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19456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Atomic DB write
(status: returned)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0384" y="24231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74D3A"/>
                </a:solidFill>
              </a:rPr>
              <a:t>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645920"/>
            <a:ext cx="1783080" cy="2011680"/>
          </a:xfrm>
          <a:prstGeom prst="rect">
            <a:avLst/>
          </a:prstGeom>
          <a:solidFill>
            <a:srgbClr val="DCE8DE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20" y="17373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74D3A"/>
                </a:solidFill>
              </a:rPr>
              <a:t>Step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194560"/>
            <a:ext cx="1691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74D3A"/>
                </a:solidFill>
              </a:rPr>
              <a:t>Card re-renders with
verified audit badge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31920"/>
            <a:ext cx="11457432" cy="246888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069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📦 Data Committed to Database Ledger Upon Claim Verification: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72000"/>
            <a:ext cx="2651760" cy="59436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6817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E8DE"/>
                </a:solidFill>
              </a:rPr>
              <a:t>✓ claimedBy: Full Legal Name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4572000"/>
            <a:ext cx="2651760" cy="59436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46817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E8DE"/>
                </a:solidFill>
              </a:rPr>
              <a:t>✓ claimantId: College ID / Roll 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79" y="4572000"/>
            <a:ext cx="2651760" cy="59436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19" y="46817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E8DE"/>
                </a:solidFill>
              </a:rPr>
              <a:t>✓ claimantContact: Verified Phone / Email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399" y="4572000"/>
            <a:ext cx="2651760" cy="59436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39" y="46817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E8DE"/>
                </a:solidFill>
              </a:rPr>
              <a:t>✓ claimProof: Written proof statement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57800"/>
            <a:ext cx="2651760" cy="59436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3675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E8DE"/>
                </a:solidFill>
              </a:rPr>
              <a:t>✓ claimantPhoto: Uploaded ID / selfie path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37560" y="5257800"/>
            <a:ext cx="2651760" cy="59436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53675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E8DE"/>
                </a:solidFill>
              </a:rPr>
              <a:t>✓ claimedAt: ISO 8601 timestamp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79" y="5257800"/>
            <a:ext cx="2651760" cy="59436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19" y="53675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E8DE"/>
                </a:solidFill>
              </a:rPr>
              <a:t>✓ status: 'returned'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15399" y="5257800"/>
            <a:ext cx="2651760" cy="59436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6839" y="53675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E8DE"/>
                </a:solidFill>
              </a:rPr>
              <a:t>✓ auditStatus: permanently preserved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FUTURE SCOPE &amp;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8DE"/>
                </a:solidFill>
              </a:rPr>
              <a:t>Planned extensions for production campus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2697480" cy="2194560"/>
          </a:xfrm>
          <a:prstGeom prst="rect">
            <a:avLst/>
          </a:prstGeom>
          <a:solidFill>
            <a:srgbClr val="DCE8DE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270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Campus SSO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Integrate LDAP / Google Workspace OAuth to bind reports to official campus email accounts.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417320"/>
            <a:ext cx="269748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5270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9202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Automated Push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28600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Notify users via email / web push when an item matching their description is reported.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417320"/>
            <a:ext cx="2697480" cy="2194560"/>
          </a:xfrm>
          <a:prstGeom prst="rect">
            <a:avLst/>
          </a:prstGeom>
          <a:solidFill>
            <a:srgbClr val="DCE8DE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5270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9202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AI Visual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28600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Deploy CNN-based image similarity to match uploaded photos regardless of wording.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9136" y="1417320"/>
            <a:ext cx="269748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5270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19202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Dedicated Mobile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28600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React Native / Flutter app with camera barcode scanning and native push notifications.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269748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0448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Admin &amp; Security Portal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Analytical dashboard tracking recovery rates, frequent loss hotspots, and department statistics.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3552" y="3794760"/>
            <a:ext cx="2697480" cy="2194560"/>
          </a:xfrm>
          <a:prstGeom prst="rect">
            <a:avLst/>
          </a:prstGeom>
          <a:solidFill>
            <a:srgbClr val="DCE8DE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4992" y="390448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Multilingual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4992" y="466344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Localisation in Hindi and regional languages for wider campus accessibility.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81344" y="3794760"/>
            <a:ext cx="269748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2784" y="390448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Distributed Audit Trail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466344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Tamper-proof cryptographic ledger recording claim events for institutional compliance.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89136" y="3794760"/>
            <a:ext cx="2697480" cy="2194560"/>
          </a:xfrm>
          <a:prstGeom prst="rect">
            <a:avLst/>
          </a:prstGeom>
          <a:solidFill>
            <a:srgbClr val="DCE8DE"/>
          </a:solidFill>
          <a:ln w="1016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0576" y="390448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92F2B"/>
                </a:solidFill>
              </a:rPr>
              <a:t>🏷️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576" y="4297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74D3A"/>
                </a:solidFill>
              </a:rPr>
              <a:t>Campus QR Tags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466344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92F2B"/>
                </a:solidFill>
              </a:rPr>
              <a:t>Printable QR stickers for student laptops, ID lanyards, and backpacks linked directly to the portal.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 &amp; COURSE OUTCOME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CE8DE"/>
                </a:solidFill>
              </a:rPr>
              <a:t>Aligning project milestones with BCC-351 engineering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303520" cy="5166360"/>
          </a:xfrm>
          <a:prstGeom prst="rect">
            <a:avLst/>
          </a:prstGeom>
          <a:solidFill>
            <a:srgbClr val="DCE8DE"/>
          </a:solidFill>
          <a:ln w="12700">
            <a:solidFill>
              <a:srgbClr val="17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74D3A"/>
                </a:solidFill>
              </a:rPr>
              <a:t>Key Accomplishments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937760" cy="27432"/>
          </a:xfrm>
          <a:prstGeom prst="rect">
            <a:avLst/>
          </a:prstGeom>
          <a:solidFill>
            <a:srgbClr val="17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292F2B"/>
                </a:solidFill>
              </a:rPr>
              <a:t>✅ Full-stack campus web app delivered and operational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92F2B"/>
                </a:solidFill>
              </a:rPr>
              <a:t>✅ Solved real-world lost &amp; found friction with verified claims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92F2B"/>
                </a:solidFill>
              </a:rPr>
              <a:t>✅ Zero-dependency SQLite implementation via node:sqlite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92F2B"/>
                </a:solidFill>
              </a:rPr>
              <a:t>✅ Client-side Canvas image optimization pipeline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92F2B"/>
                </a:solidFill>
              </a:rPr>
              <a:t>✅ Production-grade UX: toasts, skeletons, keyboard shortcuts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92F2B"/>
                </a:solidFill>
              </a:rPr>
              <a:t>✅ Complete REST API with automated test suite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92F2B"/>
                </a:solidFill>
              </a:rPr>
              <a:t>✅ Forensic claimant audit trail preventing item misappropriation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325880"/>
            <a:ext cx="5943600" cy="5166360"/>
          </a:xfrm>
          <a:prstGeom prst="rect">
            <a:avLst/>
          </a:prstGeom>
          <a:solidFill>
            <a:srgbClr val="174D3A"/>
          </a:solidFill>
          <a:ln w="12700">
            <a:solidFill>
              <a:srgbClr val="0D3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4630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Course Outcome (CO) Mapping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920240"/>
            <a:ext cx="5577840" cy="2743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0116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C340.1: Developed full-stack technical artifact utilizing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        Node.js, SQLite, Canvas API, and modern CSS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C340.2: Authored formal requirements, designed REST schema,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        and created automated test cases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C340.3: Followed industry standards: semantic HTML, defensive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        error handling, and RESTful conventions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C340.4: Strengthened problem-solving, UI design, and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        technical report documentation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C340.5: Applied professional and ethical principles by building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FFFFF"/>
                </a:solidFill>
              </a:rPr>
              <a:t>        an identity-verified audit mechanism for fair return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33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560320"/>
            <a:ext cx="7616952" cy="2743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CE8DE"/>
                </a:solidFill>
              </a:rPr>
              <a:t>FindIt@Campus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BF0EB"/>
                </a:solidFill>
              </a:rPr>
              <a:t>Campus Lost &amp; Found Directory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977639"/>
            <a:ext cx="7616952" cy="27432"/>
          </a:xfrm>
          <a:prstGeom prst="rect">
            <a:avLst/>
          </a:prstGeom>
          <a:solidFill>
            <a:srgbClr val="DC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E8DE"/>
                </a:solidFill>
              </a:rPr>
              <a:t>[Student Name]  •  Roll No: [Roll No.]  •  Section: [Section]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BF0EB"/>
                </a:solidFill>
              </a:rPr>
              <a:t>Department of Computer Science and Engineering (AI &amp; ML)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JSS Academy of Technical Education, Noida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49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BF0EB"/>
                </a:solidFill>
              </a:rPr>
              <a:t>BCC-351 Mini Project Assessment  •  Academic Year 2025-26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9107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E8DE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