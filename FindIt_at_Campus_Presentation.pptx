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CE8DE"/>
                </a:solidFill>
              </a:rPr>
              <a:t>JSS ACADEMY OF TECHNICAL EDUCATION, NOIDA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731520"/>
            <a:ext cx="8229600" cy="27432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FindIt@Campus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DCE8DE"/>
                </a:solidFill>
              </a:rPr>
              <a:t>Campus Lost &amp; Found Directory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91840"/>
            <a:ext cx="8229600" cy="27432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BF0EB"/>
                </a:solidFill>
              </a:rPr>
              <a:t>Mini Project Assessment Report  •  BCC-351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BF0EB"/>
                </a:solidFill>
              </a:rPr>
              <a:t>Department of Computer Science &amp; Engineering (AI &amp; 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CE8DE"/>
                </a:solidFill>
              </a:rPr>
              <a:t>[Student Name]  |  Roll No: [XXX]  |  Section: [X]  |  Semester III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BF0EB"/>
                </a:solidFill>
              </a:rPr>
              <a:t>Academic Year 2025–26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2636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CE8DE"/>
                </a:solidFill>
              </a:rPr>
              <a:t>Full-Stack Web App  •  Node.js + SQLite  •  Identity-Verified Lost &amp; Found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CE8DE"/>
                </a:solidFill>
              </a:rPr>
              <a:t>Why does every campus need a better lost and found system?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103120" cy="4754880"/>
          </a:xfrm>
          <a:prstGeom prst="rect">
            <a:avLst/>
          </a:prstGeom>
          <a:solidFill>
            <a:srgbClr val="DCE8DE"/>
          </a:solidFill>
          <a:ln w="1524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2F2B"/>
                </a:solidFill>
              </a:rP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57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74D3A"/>
                </a:solidFill>
              </a:rPr>
              <a:t>No central 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60320"/>
            <a:ext cx="1920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2F2B"/>
                </a:solidFill>
              </a:rPr>
              <a:t>Lost items are reported via WhatsApp groups or notice boards — scattered, ephemeral, and unsearchable.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371600"/>
            <a:ext cx="2103120" cy="4754880"/>
          </a:xfrm>
          <a:prstGeom prst="rect">
            <a:avLst/>
          </a:prstGeom>
          <a:solidFill>
            <a:srgbClr val="DCE8DE"/>
          </a:solidFill>
          <a:ln w="1524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417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2F2B"/>
                </a:solidFill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057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74D3A"/>
                </a:solidFill>
              </a:rPr>
              <a:t>No search 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560320"/>
            <a:ext cx="1920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2F2B"/>
                </a:solidFill>
              </a:rPr>
              <a:t>A student who found a wallet has no way to check if anyone reported it missing.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371600"/>
            <a:ext cx="2103120" cy="4754880"/>
          </a:xfrm>
          <a:prstGeom prst="rect">
            <a:avLst/>
          </a:prstGeom>
          <a:solidFill>
            <a:srgbClr val="DCE8DE"/>
          </a:solidFill>
          <a:ln w="1524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417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2F2B"/>
                </a:solidFill>
              </a:rPr>
              <a:t>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057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74D3A"/>
                </a:solidFill>
              </a:rPr>
              <a:t>No identity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560320"/>
            <a:ext cx="1920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2F2B"/>
                </a:solidFill>
              </a:rPr>
              <a:t>Anyone can pick up a found item without proving ownership — creating risk of misappropriation.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371600"/>
            <a:ext cx="2103120" cy="4754880"/>
          </a:xfrm>
          <a:prstGeom prst="rect">
            <a:avLst/>
          </a:prstGeom>
          <a:solidFill>
            <a:srgbClr val="DCE8DE"/>
          </a:solidFill>
          <a:ln w="1524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1417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2F2B"/>
                </a:solidFill>
              </a:rPr>
              <a:t>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057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74D3A"/>
                </a:solidFill>
              </a:rPr>
              <a:t>No photos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560320"/>
            <a:ext cx="1920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2F2B"/>
                </a:solidFill>
              </a:rPr>
              <a:t>Text descriptions alone are insufficient to identify many items (bags, chargers, earphones).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1371600"/>
            <a:ext cx="2103120" cy="4754880"/>
          </a:xfrm>
          <a:prstGeom prst="rect">
            <a:avLst/>
          </a:prstGeom>
          <a:solidFill>
            <a:srgbClr val="DCE8DE"/>
          </a:solidFill>
          <a:ln w="1524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19" y="1417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2F2B"/>
                </a:solidFill>
              </a:rPr>
              <a:t>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2057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74D3A"/>
                </a:solidFill>
              </a:rPr>
              <a:t>No audit 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19" y="2560320"/>
            <a:ext cx="1920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2F2B"/>
                </a:solidFill>
              </a:rPr>
              <a:t>No permanent record of who claimed what, when, and with what proof.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Result: Students fail to recover their belongings. Found items go unclaimed.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CE8DE"/>
                </a:solidFill>
              </a:rPr>
              <a:t>FindIt@Campus — a purpose-built, structured, verifiable campus lost &amp; found directory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303520" cy="5120640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74D3A"/>
                </a:solidFill>
              </a:rP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 b="0">
                <a:solidFill>
                  <a:srgbClr val="292F2B"/>
                </a:solidFill>
              </a:rPr>
              <a:t>✅  Post lost or found items with a photo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292F2B"/>
                </a:solidFill>
              </a:rPr>
              <a:t>✅  Search and filter by category, status, keyword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292F2B"/>
                </a:solidFill>
              </a:rPr>
              <a:t>✅  Contact the person who found your item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292F2B"/>
                </a:solidFill>
              </a:rPr>
              <a:t>✅  Verify claimant identity before handover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292F2B"/>
                </a:solidFill>
              </a:rPr>
              <a:t>✅  Full claimant audit trail with photo proof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292F2B"/>
                </a:solidFill>
              </a:rPr>
              <a:t>✅  Cross-match engine: auto-find potential pairs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292F2B"/>
                </a:solidFill>
              </a:rPr>
              <a:t>✅  Real-time connection status indicator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292F2B"/>
                </a:solidFill>
              </a:rPr>
              <a:t>✅  Keyboard shortcuts &amp; toast notifications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669280" cy="512064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74519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1. Reporter posts item with photo &amp; contact info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2. All campus members can browse &amp; search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3. Potential owner submits: Name + College ID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   + Contact + Ownership proof + Photo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4. System saves claim to permanent audit log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5. Item marked 'Returned' with claimant badge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6. Cross-match alerts surface matching pairs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CE8DE"/>
                </a:solidFill>
              </a:rPr>
              <a:t>Zero build pipeline • No framework lock-in • Single binary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371600"/>
            <a:ext cx="4114800" cy="2194560"/>
          </a:xfrm>
          <a:prstGeom prst="rect">
            <a:avLst/>
          </a:prstGeom>
          <a:solidFill>
            <a:srgbClr val="DCE8DE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92F2B"/>
                </a:solidFill>
              </a:rP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202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2860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2F2B"/>
                </a:solidFill>
              </a:rPr>
              <a:t>HTML5 / CSS3 /
Vanilla 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83464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Single .html file, no framework, no build step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4114800" cy="2194560"/>
          </a:xfrm>
          <a:prstGeom prst="rect">
            <a:avLst/>
          </a:prstGeom>
          <a:solidFill>
            <a:srgbClr val="DCE8DE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630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92F2B"/>
                </a:solidFill>
              </a:rP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202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2860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2F2B"/>
                </a:solidFill>
              </a:rPr>
              <a:t>Node.js v22
+ Express.js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83464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Event-driven REST API server with built-in SQLite support.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371600"/>
            <a:ext cx="3657600" cy="2194560"/>
          </a:xfrm>
          <a:prstGeom prst="rect">
            <a:avLst/>
          </a:prstGeom>
          <a:solidFill>
            <a:srgbClr val="DCE8DE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92F2B"/>
                </a:solidFill>
              </a:rPr>
              <a:t>🗃️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2F2B"/>
                </a:solidFill>
              </a:rPr>
              <a:t>SQLite
(node:sqlite)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834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File-based, serverless, zero-configuration. Ships with Node 22.5+.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84048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9319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92F2B"/>
                </a:solidFill>
              </a:rPr>
              <a:t>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3891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Alt. 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7548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2F2B"/>
                </a:solidFill>
              </a:rPr>
              <a:t>Python 3
+ Flask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530352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Drop-in alternative for teams preferring Python.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84048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9319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92F2B"/>
                </a:solidFill>
              </a:rPr>
              <a:t>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3891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7548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2F2B"/>
                </a:solidFill>
              </a:rPr>
              <a:t>Node.js
test runner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0352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Automated API test suite covering all endpoints.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384048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92F2B"/>
                </a:solidFill>
              </a:rPr>
              <a:t>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File Storage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754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2F2B"/>
                </a:solidFill>
              </a:rPr>
              <a:t>Local /uploads
+ Canvas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53035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Client-side JPEG compression before upload (max 800px, 0.75 quality).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FEATURES —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CE8DE"/>
                </a:solidFill>
              </a:rPr>
              <a:t>Reporting, Discovery &amp; Contact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3657600" cy="5120640"/>
          </a:xfrm>
          <a:prstGeom prst="rect">
            <a:avLst/>
          </a:prstGeom>
          <a:solidFill>
            <a:srgbClr val="DCE8DE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4173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4D3A"/>
                </a:solidFill>
              </a:rPr>
              <a:t>📝 Report Lost or Found Items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29968"/>
            <a:ext cx="3474720" cy="36576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1488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• Choose item type (Lost / Found)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• Select category (Electronics, Clothing, Books, ID Cards, Accessories, Other)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• Enter name, location, date, description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• Add contact info / drop-off desk location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• Attach an item photo (client-compressed to JPEG)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25880"/>
            <a:ext cx="36576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4173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4D3A"/>
                </a:solidFill>
              </a:rPr>
              <a:t>🔍 Search &amp; Filter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2029968"/>
            <a:ext cx="3474720" cy="36576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1488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• Segmented toggle: All / Lost / Found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• Category dropdown filter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• Status filter: Open / Claimed / Returned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• Full-text keyword search (debounced)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• Empty state with helpful guidance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25880"/>
            <a:ext cx="3657600" cy="5120640"/>
          </a:xfrm>
          <a:prstGeom prst="rect">
            <a:avLst/>
          </a:prstGeom>
          <a:solidFill>
            <a:srgbClr val="DCE8DE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173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4D3A"/>
                </a:solidFill>
              </a:rPr>
              <a:t>🤝 Contact the Finder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029968"/>
            <a:ext cx="3474720" cy="36576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1488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• Each card shows reporter contact info / drop-off desk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• Phone, email, room number — whatever the reporter provides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• Enables direct peer-to-peer recovery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• No intermediary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FEATURES —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CE8DE"/>
                </a:solidFill>
              </a:rPr>
              <a:t>Identity Verification &amp; Audit Trail — No more wrongful claims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5303520" cy="5074920"/>
          </a:xfrm>
          <a:prstGeom prst="rect">
            <a:avLst/>
          </a:prstGeom>
          <a:solidFill>
            <a:srgbClr val="DCE8DE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4D3A"/>
                </a:solidFill>
              </a:rPr>
              <a:t>🔒 Claimant Must Provide: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5120640" cy="36576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51206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4D3A"/>
                </a:solidFill>
              </a:rPr>
              <a:t>Full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5915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92F2B"/>
                </a:solidFill>
              </a:rPr>
              <a:t>Claimant's complete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80360"/>
            <a:ext cx="51206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4D3A"/>
                </a:solidFill>
              </a:rPr>
              <a:t>College ID / Roll 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2783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92F2B"/>
                </a:solidFill>
              </a:rPr>
              <a:t>Verified campus identity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51206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7947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4D3A"/>
                </a:solidFill>
              </a:rPr>
              <a:t>Contact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96511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92F2B"/>
                </a:solidFill>
              </a:rPr>
              <a:t>Phone or email for follow-up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17720"/>
            <a:ext cx="51206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4D3A"/>
                </a:solidFill>
              </a:rPr>
              <a:t>Ownership Proof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6519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92F2B"/>
                </a:solidFill>
              </a:rPr>
              <a:t>Written description of proof
(serial no., receipt, distinctive mark…)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486400"/>
            <a:ext cx="51206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532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4D3A"/>
                </a:solidFill>
              </a:rPr>
              <a:t>Claimant Photo (optional)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83387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92F2B"/>
                </a:solidFill>
              </a:rPr>
              <a:t>Selfie with ID card or ID card image
for photographic audit 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325880"/>
            <a:ext cx="5669280" cy="5074920"/>
          </a:xfrm>
          <a:prstGeom prst="rect">
            <a:avLst/>
          </a:prstGeom>
          <a:solidFill>
            <a:srgbClr val="174D3A"/>
          </a:solidFill>
          <a:ln w="12700">
            <a:solidFill>
              <a:srgbClr val="0D3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4173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📋 After a Claim: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920240"/>
            <a:ext cx="5486400" cy="36576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01168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✅  Item card shows 'Returned' badge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✅  Claimant name + ID displayed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✅  Ownership proof note visible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✅  Claimant photo thumbnail (clickable lightbox)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✅  Timestamp of claim recorded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✅  Permanent entry in SQLite audit table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🛡️  Purpose: Prevent wrongful claims.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   Only the genuine owner, who can provide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   proof, can successfully claim an item.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CE8DE"/>
                </a:solidFill>
              </a:rPr>
              <a:t>Three-tier client–server architecture with REST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3657600" cy="5120640"/>
          </a:xfrm>
          <a:prstGeom prst="rect">
            <a:avLst/>
          </a:prstGeom>
          <a:solidFill>
            <a:srgbClr val="DCE8DE"/>
          </a:solidFill>
          <a:ln w="12700">
            <a:solidFill>
              <a:srgbClr val="0D3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PRESENTATION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28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92F2B"/>
                </a:solidFill>
              </a:rPr>
              <a:t>Browser
(Any Device)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59" y="2423160"/>
            <a:ext cx="3108960" cy="36576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514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2F2B"/>
                </a:solidFill>
              </a:rPr>
              <a:t>index.html
style.css
script.js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59" y="3200400"/>
            <a:ext cx="3108960" cy="36576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329184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2F2B"/>
                </a:solidFill>
              </a:rPr>
              <a:t>HTML / CSS / Vanilla JS
Fetch API + Canvas API
Skeleton Loaders + Toasts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280160"/>
            <a:ext cx="3657600" cy="5120640"/>
          </a:xfrm>
          <a:prstGeom prst="rect">
            <a:avLst/>
          </a:prstGeom>
          <a:solidFill>
            <a:srgbClr val="174D3A"/>
          </a:solidFill>
          <a:ln w="12700">
            <a:solidFill>
              <a:srgbClr val="0D3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APPLICATION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828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Node.js Server
(:3000)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4568" y="2423160"/>
            <a:ext cx="31089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2514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server.js
(Express.js)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44568" y="3200400"/>
            <a:ext cx="31089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329184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REST API Routing
File Upload (multer)
Business Logic
CORS + Error Handling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0456" y="1280160"/>
            <a:ext cx="3657600" cy="5120640"/>
          </a:xfrm>
          <a:prstGeom prst="rect">
            <a:avLst/>
          </a:prstGeom>
          <a:solidFill>
            <a:srgbClr val="0D3327"/>
          </a:solidFill>
          <a:ln w="12700">
            <a:solidFill>
              <a:srgbClr val="0D3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DATA 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1828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SQLite
Database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94776" y="2423160"/>
            <a:ext cx="31089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2514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campus_reports.db
/uploads/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94776" y="3200400"/>
            <a:ext cx="31089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1896" y="329184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Persistent Record Storage
Audit Ledger
Photo File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32918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74D3A"/>
                </a:solidFill>
              </a:rPr>
              <a:t>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0727" y="32918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74D3A"/>
                </a:solidFill>
              </a:rPr>
              <a:t>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92F2B"/>
                </a:solidFill>
              </a:rPr>
              <a:t>JSON / HTTP REST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92F2B"/>
                </a:solidFill>
              </a:rPr>
              <a:t>node:sqlite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CE8DE"/>
                </a:solidFill>
              </a:rPr>
              <a:t>Single table: 'reports' — 18 columns covering item data, contact, and claimant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5852160" cy="384048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Column  |  Type  |  Description  (Item Data)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09928"/>
            <a:ext cx="5852160" cy="438912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7647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7647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92F2B"/>
                </a:solidFill>
              </a:rPr>
              <a:t>INTEGER PK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7647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92F2B"/>
                </a:solidFill>
              </a:rPr>
              <a:t>Auto-increment primary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67128"/>
            <a:ext cx="58521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2219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2219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2219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92F2B"/>
                </a:solidFill>
              </a:rPr>
              <a:t>'lost' or 'found'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24328"/>
            <a:ext cx="5852160" cy="438912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6791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6791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6791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92F2B"/>
                </a:solidFill>
              </a:rPr>
              <a:t>Electronics, Clothing, etc.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081528"/>
            <a:ext cx="58521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1363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1363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1363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92F2B"/>
                </a:solidFill>
              </a:rPr>
              <a:t>Item name / description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538728"/>
            <a:ext cx="5852160" cy="438912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5935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35935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35935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92F2B"/>
                </a:solidFill>
              </a:rPr>
              <a:t>Where lost or found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995928"/>
            <a:ext cx="58521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050791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4050791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4050791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92F2B"/>
                </a:solidFill>
              </a:rPr>
              <a:t>Date of incident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453128"/>
            <a:ext cx="5852160" cy="438912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5079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description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45079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45079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92F2B"/>
                </a:solidFill>
              </a:rPr>
              <a:t>Full description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910328"/>
            <a:ext cx="58521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49651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contact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83080" y="49651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49651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92F2B"/>
                </a:solidFill>
              </a:rPr>
              <a:t>Reporter contact / drop-off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367528"/>
            <a:ext cx="5852160" cy="438912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54223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image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54223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1800" y="54223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92F2B"/>
                </a:solidFill>
              </a:rPr>
              <a:t>File path to item photo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824728"/>
            <a:ext cx="58521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58795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status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83080" y="58795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71800" y="58795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92F2B"/>
                </a:solidFill>
              </a:rPr>
              <a:t>open / claimed / returned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1325880"/>
            <a:ext cx="5852160" cy="384048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59" y="13716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Column  |  Type  |  Description  (Claimant Audit)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1709928"/>
            <a:ext cx="5852160" cy="438912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59" y="17647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claimedBy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17647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17647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92F2B"/>
                </a:solidFill>
              </a:rPr>
              <a:t>Claimant full name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2167128"/>
            <a:ext cx="58521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59" y="22219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claimantId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22219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0" y="22219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92F2B"/>
                </a:solidFill>
              </a:rPr>
              <a:t>Claimant college ID / roll no.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2624328"/>
            <a:ext cx="5852160" cy="438912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59" y="26791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claimantContact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0" y="26791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61120" y="26791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92F2B"/>
                </a:solidFill>
              </a:rPr>
              <a:t>Claimant phone / email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3081528"/>
            <a:ext cx="58521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59" y="31363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claimProof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0" y="31363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61120" y="31363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92F2B"/>
                </a:solidFill>
              </a:rPr>
              <a:t>Written ownership proof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3538728"/>
            <a:ext cx="5852160" cy="438912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59" y="35935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claimantPhoto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0" y="35935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61120" y="35935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92F2B"/>
                </a:solidFill>
              </a:rPr>
              <a:t>Claimant photo file path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63640" y="3995928"/>
            <a:ext cx="58521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09359" y="4050791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claimedAt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2400" y="4050791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61120" y="4050791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92F2B"/>
                </a:solidFill>
              </a:rPr>
              <a:t>ISO timestamp of claim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63640" y="4453128"/>
            <a:ext cx="5852160" cy="438912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9359" y="45079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demo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72400" y="45079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92F2B"/>
                </a:solidFill>
              </a:rPr>
              <a:t>INTEGER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61120" y="45079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92F2B"/>
                </a:solidFill>
              </a:rPr>
              <a:t>1 = seeded demo record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63640" y="4910328"/>
            <a:ext cx="58521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09359" y="49651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createdAt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72400" y="49651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61120" y="49651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92F2B"/>
                </a:solidFill>
              </a:rPr>
              <a:t>ISO timestamp of creation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REST 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CE8DE"/>
                </a:solidFill>
              </a:rPr>
              <a:t>Clean, resource-oriented API — JSON in, JSON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11612880" cy="713232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005840" cy="71323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508760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99032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4D3A"/>
                </a:solidFill>
              </a:rPr>
              <a:t>/api/reports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417320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92F2B"/>
                </a:solidFill>
              </a:rPr>
              <a:t>List all reports. Supports ?type=, ?category=, ?status=, ?q= query filters.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75688"/>
            <a:ext cx="1161288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075688"/>
            <a:ext cx="1005840" cy="713232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225856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48840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4D3A"/>
                </a:solidFill>
              </a:rPr>
              <a:t>/api/reports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167128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92F2B"/>
                </a:solidFill>
              </a:rPr>
              <a:t>Create a new report. Accepts multipart/form-data including optional item image.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25496"/>
            <a:ext cx="11612880" cy="713232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825496"/>
            <a:ext cx="1005840" cy="71323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3008376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89864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4D3A"/>
                </a:solidFill>
              </a:rPr>
              <a:t>/api/reports/:id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916936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92F2B"/>
                </a:solidFill>
              </a:rPr>
              <a:t>Fetch a single report by its ID.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75304"/>
            <a:ext cx="1161288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75304"/>
            <a:ext cx="1005840" cy="713232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" y="3758184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648456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4D3A"/>
                </a:solidFill>
              </a:rPr>
              <a:t>/api/reports/:id/claim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666744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92F2B"/>
                </a:solidFill>
              </a:rPr>
              <a:t>Submit a claim. Accepts claimant fields + optional claimantPhoto.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25112"/>
            <a:ext cx="11612880" cy="713232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325112"/>
            <a:ext cx="1005840" cy="713232"/>
          </a:xfrm>
          <a:prstGeom prst="rect">
            <a:avLst/>
          </a:prstGeom>
          <a:solidFill>
            <a:srgbClr val="B3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" y="450799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398264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4D3A"/>
                </a:solidFill>
              </a:rPr>
              <a:t>/api/reports/:id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416551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92F2B"/>
                </a:solidFill>
              </a:rPr>
              <a:t>Delete a report by ID.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074920"/>
            <a:ext cx="1161288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5074920"/>
            <a:ext cx="1005840" cy="71323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" y="5257800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148072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4D3A"/>
                </a:solidFill>
              </a:rPr>
              <a:t>/api/cross-match/:id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5166359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92F2B"/>
                </a:solidFill>
              </a:rPr>
              <a:t>Return ranked potential matches for a given lost/found report.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824728"/>
            <a:ext cx="11612880" cy="713232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5824728"/>
            <a:ext cx="1005840" cy="71323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" y="600760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897880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4D3A"/>
                </a:solidFill>
              </a:rPr>
              <a:t>/uploads/:filename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7800" y="5916168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92F2B"/>
                </a:solidFill>
              </a:rPr>
              <a:t>Serve item or claimant photo 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UX &amp; ENGINEERING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CE8DE"/>
                </a:solidFill>
              </a:rPr>
              <a:t>Production-grade polish beyond the happy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5669280" cy="1234440"/>
          </a:xfrm>
          <a:prstGeom prst="rect">
            <a:avLst/>
          </a:prstGeom>
          <a:solidFill>
            <a:srgbClr val="DCE8DE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417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4D3A"/>
                </a:solidFill>
              </a:rPr>
              <a:t>🦴 Skeleton Loaders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2880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92F2B"/>
                </a:solidFill>
              </a:rPr>
              <a:t>Cards animate as bone-shaped placeholders while the API fetches — no jarring blank screen or spinning circle.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25880"/>
            <a:ext cx="566928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17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4D3A"/>
                </a:solidFill>
              </a:rPr>
              <a:t>🔔 Toast Notifications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92F2B"/>
                </a:solidFill>
              </a:rPr>
              <a:t>Non-blocking status messages (bottom-right) auto-dismiss after 4s. Used for confirmations, errors, and validation feedback.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97480"/>
            <a:ext cx="566928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7889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4D3A"/>
                </a:solidFill>
              </a:rPr>
              <a:t>⌨️  Keyboard Shortcuts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20040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92F2B"/>
                </a:solidFill>
              </a:rPr>
              <a:t>'/' key focuses the search bar from anywhere. 'Escape' closes any open modal.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697480"/>
            <a:ext cx="5669280" cy="1234440"/>
          </a:xfrm>
          <a:prstGeom prst="rect">
            <a:avLst/>
          </a:prstGeom>
          <a:solidFill>
            <a:srgbClr val="DCE8DE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7889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4D3A"/>
                </a:solidFill>
              </a:rPr>
              <a:t>🌐 Connection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20040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92F2B"/>
                </a:solidFill>
              </a:rPr>
              <a:t>A live coloured dot in the top bar shows server reachability — green (Connected) or red (Offline). Polls every 30 seconds.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069080"/>
            <a:ext cx="5669280" cy="1234440"/>
          </a:xfrm>
          <a:prstGeom prst="rect">
            <a:avLst/>
          </a:prstGeom>
          <a:solidFill>
            <a:srgbClr val="DCE8DE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160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4D3A"/>
                </a:solidFill>
              </a:rPr>
              <a:t>🖼️  Image Lightbox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57200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92F2B"/>
                </a:solidFill>
              </a:rPr>
              <a:t>Clicking any item photo or claimant photo opens a full-screen overlay with keyboard dismiss support.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069080"/>
            <a:ext cx="566928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160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4D3A"/>
                </a:solidFill>
              </a:rPr>
              <a:t>🔗 Cross-Match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57200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92F2B"/>
                </a:solidFill>
              </a:rPr>
              <a:t>Keyword-overlap scoring across name, description, category, location surfaces potential lost↔found pairs automatically.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440680"/>
            <a:ext cx="566928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5532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4D3A"/>
                </a:solidFill>
              </a:rPr>
              <a:t>🛡️  Defensive Error Handling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594360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92F2B"/>
                </a:solidFill>
              </a:rPr>
              <a:t>All fetch calls use AbortController for timeouts. Server returns structured JSON errors with appropriate HTTP status codes.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5440680"/>
            <a:ext cx="5669280" cy="1234440"/>
          </a:xfrm>
          <a:prstGeom prst="rect">
            <a:avLst/>
          </a:prstGeom>
          <a:solidFill>
            <a:srgbClr val="DCE8DE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5532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4D3A"/>
                </a:solidFill>
              </a:rPr>
              <a:t>📱 Responsive Layout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94360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92F2B"/>
                </a:solidFill>
              </a:rPr>
              <a:t>CSS Grid adapts from 1 to 3 columns across breakpoints — usable on mobile, tablet, and desktop.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 FLOW — CLAIM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CE8DE"/>
                </a:solidFill>
              </a:rPr>
              <a:t>Level 2 DFD: How a found-item claim is processed end-to-end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1828800" cy="1828800"/>
          </a:xfrm>
          <a:prstGeom prst="rect">
            <a:avLst/>
          </a:prstGeom>
          <a:solidFill>
            <a:srgbClr val="DCE8DE"/>
          </a:solidFill>
          <a:ln w="12700">
            <a:solidFill>
              <a:srgbClr val="0D3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74D3A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231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74D3A"/>
                </a:solidFill>
              </a:rPr>
              <a:t>Claimant
opens modal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74D3A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79" y="1828800"/>
            <a:ext cx="1828800" cy="1828800"/>
          </a:xfrm>
          <a:prstGeom prst="rect">
            <a:avLst/>
          </a:prstGeom>
          <a:solidFill>
            <a:srgbClr val="DCE8DE"/>
          </a:solidFill>
          <a:ln w="12700">
            <a:solidFill>
              <a:srgbClr val="0D3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74D3A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4231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74D3A"/>
                </a:solidFill>
              </a:rPr>
              <a:t>Fills identity
fields + photo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74D3A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828800"/>
            <a:ext cx="1828800" cy="1828800"/>
          </a:xfrm>
          <a:prstGeom prst="rect">
            <a:avLst/>
          </a:prstGeom>
          <a:solidFill>
            <a:srgbClr val="174D3A"/>
          </a:solidFill>
          <a:ln w="12700">
            <a:solidFill>
              <a:srgbClr val="0D3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24231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Frontend validates
required fields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74D3A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199" y="1828800"/>
            <a:ext cx="1828800" cy="1828800"/>
          </a:xfrm>
          <a:prstGeom prst="rect">
            <a:avLst/>
          </a:prstGeom>
          <a:solidFill>
            <a:srgbClr val="174D3A"/>
          </a:solidFill>
          <a:ln w="12700">
            <a:solidFill>
              <a:srgbClr val="0D3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39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39" y="24231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POST /api/reports
/:id/claim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74D3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828800"/>
            <a:ext cx="1828800" cy="1828800"/>
          </a:xfrm>
          <a:prstGeom prst="rect">
            <a:avLst/>
          </a:prstGeom>
          <a:solidFill>
            <a:srgbClr val="0D3327"/>
          </a:solidFill>
          <a:ln w="12700">
            <a:solidFill>
              <a:srgbClr val="0D3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231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Server validates
&amp; saves to 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74D3A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04120" y="1828800"/>
            <a:ext cx="1828800" cy="1828800"/>
          </a:xfrm>
          <a:prstGeom prst="rect">
            <a:avLst/>
          </a:prstGeom>
          <a:solidFill>
            <a:srgbClr val="DCE8DE"/>
          </a:solidFill>
          <a:ln w="12700">
            <a:solidFill>
              <a:srgbClr val="0D3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6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74D3A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24231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74D3A"/>
                </a:solidFill>
              </a:rPr>
              <a:t>Card re-renders
with audit badge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931920"/>
            <a:ext cx="11612880" cy="237744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📦 Data Written to Database on Claim: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26280"/>
            <a:ext cx="2834640" cy="438912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5720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E8DE"/>
                </a:solidFill>
              </a:rPr>
              <a:t>• claimedBy: Full Name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4526280"/>
            <a:ext cx="2834640" cy="438912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45720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E8DE"/>
                </a:solidFill>
              </a:rPr>
              <a:t>• claimantId: College ID / Roll No.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526280"/>
            <a:ext cx="2834640" cy="438912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5720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E8DE"/>
                </a:solidFill>
              </a:rPr>
              <a:t>• claimantContact: Phone / Email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4526280"/>
            <a:ext cx="2834640" cy="438912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45720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E8DE"/>
                </a:solidFill>
              </a:rPr>
              <a:t>• claimProof: Ownership proof text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029200"/>
            <a:ext cx="2834640" cy="438912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0749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E8DE"/>
                </a:solidFill>
              </a:rPr>
              <a:t>• claimantPhoto: File path (optional)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0" y="5029200"/>
            <a:ext cx="2834640" cy="438912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0" y="50749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E8DE"/>
                </a:solidFill>
              </a:rPr>
              <a:t>• claimedAt: ISO timestamp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5029200"/>
            <a:ext cx="2834640" cy="438912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50749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E8DE"/>
                </a:solidFill>
              </a:rPr>
              <a:t>• status: 'returned'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CE8DE"/>
                </a:solidFill>
              </a:rPr>
              <a:t>Extensions planned beyond the current MVP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2743200" cy="2194560"/>
          </a:xfrm>
          <a:prstGeom prst="rect">
            <a:avLst/>
          </a:prstGeom>
          <a:solidFill>
            <a:srgbClr val="DCE8DE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92F2B"/>
                </a:solidFill>
              </a:rP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Campus SSO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Integrate LDAP / Google OAuth so all reports are tied to verified campus accounts.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325880"/>
            <a:ext cx="2743200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17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92F2B"/>
                </a:solidFill>
              </a:rPr>
              <a:t>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Push Notifications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2402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Notify users via email or browser push when a potential match surfaces for their item.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2743200" cy="2194560"/>
          </a:xfrm>
          <a:prstGeom prst="rect">
            <a:avLst/>
          </a:prstGeom>
          <a:solidFill>
            <a:srgbClr val="DCE8DE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417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92F2B"/>
                </a:solidFill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AI Image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2402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CNN-based visual similarity + NLP semantic matching to improve cross-match accuracy.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325880"/>
            <a:ext cx="2743200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417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92F2B"/>
                </a:solidFill>
              </a:rPr>
              <a:t>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Mobile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2402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React Native or Flutter companion app for easier photo uploads and on-the-go access.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03320"/>
            <a:ext cx="2743200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79475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92F2B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Admin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6177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Recovery analytics, claim management, and most-lost-category insights for campus security.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703320"/>
            <a:ext cx="2743200" cy="2194560"/>
          </a:xfrm>
          <a:prstGeom prst="rect">
            <a:avLst/>
          </a:prstGeom>
          <a:solidFill>
            <a:srgbClr val="DCE8DE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379475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92F2B"/>
                </a:solidFill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Multi-Language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6177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Hindi and regional language localisation for broader campus accessibility.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703320"/>
            <a:ext cx="2743200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379475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92F2B"/>
                </a:solidFill>
              </a:rPr>
              <a:t>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Blockchain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46177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Tamper-proof distributed ledger for every claim event — forensic-grade accountability.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3703320"/>
            <a:ext cx="2743200" cy="2194560"/>
          </a:xfrm>
          <a:prstGeom prst="rect">
            <a:avLst/>
          </a:prstGeom>
          <a:solidFill>
            <a:srgbClr val="DCE8DE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379475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92F2B"/>
                </a:solidFill>
              </a:rPr>
              <a:t>🏷️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QR Code Labels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46177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Printable QR stickers linked to report pages — attach to bags, laptops, equipment.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CE8DE"/>
                </a:solidFill>
              </a:rPr>
              <a:t>What we built and what we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5486400" cy="5074920"/>
          </a:xfrm>
          <a:prstGeom prst="rect">
            <a:avLst/>
          </a:prstGeom>
          <a:solidFill>
            <a:srgbClr val="DCE8DE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4D3A"/>
                </a:solidFill>
              </a:rPr>
              <a:t>Project Achievements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5303520" cy="36576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✅  Searchable, photo-enabled item directory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✅  Identity-verified claim system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✅  Permanent claimant audit trail with photo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✅  Cross-match engine for automatic pairing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✅  REST API with automated test coverage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✅  Production-grade UX (skeleton loaders,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     toasts, keyboard shortcuts, lightbox)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✅  Zero-dependency SQLite database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92F2B"/>
                </a:solidFill>
              </a:rPr>
              <a:t>✅  Python/Flask alternative 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669280" cy="5074920"/>
          </a:xfrm>
          <a:prstGeom prst="rect">
            <a:avLst/>
          </a:prstGeom>
          <a:solidFill>
            <a:srgbClr val="174D3A"/>
          </a:solidFill>
          <a:ln w="12700">
            <a:solidFill>
              <a:srgbClr val="0D3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17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Skills Demonstrated (CO Mapping)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920240"/>
            <a:ext cx="5486400" cy="36576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01168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C340.1: Built new technical artifact using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         Node.js, SQLite, Express, Fetch API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C340.2: REST API design, DB schema,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         automated test cases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C340.3: Professional REST conventions,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         structured error responses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C340.4: Problem-solving, full-stack design,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         report writing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C340.5: Team collaboration, ethical design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         (identity verification = fairness)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651760"/>
            <a:ext cx="8503920" cy="45720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CE8DE"/>
                </a:solidFill>
              </a:rPr>
              <a:t>FindIt@Campus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BF0EB"/>
                </a:solidFill>
              </a:rPr>
              <a:t>Campus Lost &amp; Found Directory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4114800"/>
            <a:ext cx="8503920" cy="45720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E8DE"/>
                </a:solidFill>
              </a:rPr>
              <a:t>[Student Name]  •  Roll No: [XXX]  •  B.Tech. III Sem — CSE (AI &amp; 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BF0EB"/>
                </a:solidFill>
              </a:rPr>
              <a:t>JSS Academy of Technical Education, Noida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66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BF0EB"/>
                </a:solidFill>
              </a:rPr>
              <a:t>BCC-351 Mini Project Assessment  •  Academic Year 2025–26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910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E8DE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